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108960"/>
            <a:ext cx="2011680" cy="54864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2026 Coliving Cashflow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9D4DE"/>
                </a:solidFill>
              </a:defRPr>
            </a:pPr>
            <a:r>
              <a:t>Marketing &amp; Operating Plan  |  Coliving Real Estate Investing Education</a:t>
            </a:r>
            <a:br/>
            <a:r>
              <a:t>DIY On-Demand Program  +  Done-With-You Live Weekly Coaching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2B333C"/>
                </a:solidFill>
              </a:defRPr>
            </a:pPr>
            <a:r>
              <a:t>•  1.  Goal / Target</a:t>
            </a:r>
          </a:p>
          <a:p>
            <a:pPr>
              <a:spcAft>
                <a:spcPts val="700"/>
              </a:spcAft>
              <a:defRPr sz="1800" b="0">
                <a:solidFill>
                  <a:srgbClr val="2B333C"/>
                </a:solidFill>
              </a:defRPr>
            </a:pPr>
            <a:r>
              <a:t>•  2.  Lean Canvas Business Model</a:t>
            </a:r>
          </a:p>
          <a:p>
            <a:pPr>
              <a:spcAft>
                <a:spcPts val="700"/>
              </a:spcAft>
              <a:defRPr sz="1800" b="0">
                <a:solidFill>
                  <a:srgbClr val="2B333C"/>
                </a:solidFill>
              </a:defRPr>
            </a:pPr>
            <a:r>
              <a:t>•  3.  Unique Selling Proposition (USP)</a:t>
            </a:r>
          </a:p>
          <a:p>
            <a:pPr>
              <a:spcAft>
                <a:spcPts val="700"/>
              </a:spcAft>
              <a:defRPr sz="1800" b="0">
                <a:solidFill>
                  <a:srgbClr val="2B333C"/>
                </a:solidFill>
              </a:defRPr>
            </a:pPr>
            <a:r>
              <a:t>•  4.  Audience and Avatar</a:t>
            </a:r>
          </a:p>
          <a:p>
            <a:pPr>
              <a:spcAft>
                <a:spcPts val="700"/>
              </a:spcAft>
              <a:defRPr sz="1800" b="0">
                <a:solidFill>
                  <a:srgbClr val="2B333C"/>
                </a:solidFill>
              </a:defRPr>
            </a:pPr>
            <a:r>
              <a:t>•  5.  Product Features and Benefits</a:t>
            </a:r>
          </a:p>
          <a:p>
            <a:pPr>
              <a:spcAft>
                <a:spcPts val="700"/>
              </a:spcAft>
              <a:defRPr sz="1800" b="0">
                <a:solidFill>
                  <a:srgbClr val="2B333C"/>
                </a:solidFill>
              </a:defRPr>
            </a:pPr>
            <a:r>
              <a:t>•  6.  Branding</a:t>
            </a:r>
          </a:p>
          <a:p>
            <a:pPr>
              <a:spcAft>
                <a:spcPts val="700"/>
              </a:spcAft>
              <a:defRPr sz="1800" b="0">
                <a:solidFill>
                  <a:srgbClr val="2B333C"/>
                </a:solidFill>
              </a:defRPr>
            </a:pPr>
            <a:r>
              <a:t>•  7.  Customer Acquisition — Channels, Affiliates, Lead Gen, Funnels</a:t>
            </a:r>
          </a:p>
          <a:p>
            <a:pPr>
              <a:spcAft>
                <a:spcPts val="700"/>
              </a:spcAft>
              <a:defRPr sz="1800" b="0">
                <a:solidFill>
                  <a:srgbClr val="2B333C"/>
                </a:solidFill>
              </a:defRPr>
            </a:pPr>
            <a:r>
              <a:t>•  8.  Content Calendar &amp; PR</a:t>
            </a:r>
          </a:p>
          <a:p>
            <a:pPr>
              <a:spcAft>
                <a:spcPts val="700"/>
              </a:spcAft>
              <a:defRPr sz="1800" b="0">
                <a:solidFill>
                  <a:srgbClr val="2B333C"/>
                </a:solidFill>
              </a:defRPr>
            </a:pPr>
            <a:r>
              <a:t>•  9.  Operating Cadence, KPIs &amp; Compliance Guardrails</a:t>
            </a:r>
          </a:p>
          <a:p>
            <a:pPr>
              <a:spcAft>
                <a:spcPts val="700"/>
              </a:spcAft>
              <a:defRPr sz="1800" b="0">
                <a:solidFill>
                  <a:srgbClr val="2B333C"/>
                </a:solidFill>
              </a:defRPr>
            </a:pPr>
            <a:r>
              <a:t>•  10. New Initiatives &amp; Recap</a:t>
            </a:r>
          </a:p>
          <a:p>
            <a:pPr>
              <a:spcAft>
                <a:spcPts val="700"/>
              </a:spcAft>
              <a:defRPr sz="1800" b="0">
                <a:solidFill>
                  <a:srgbClr val="2B333C"/>
                </a:solidFill>
              </a:defRPr>
            </a:pPr>
            <a:r>
              <a:t>•  Addendum: Supercharger Strategies &amp; Achievable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GOAL /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2026 OKR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0A458"/>
                </a:solidFill>
              </a:defRPr>
            </a:pPr>
            <a:r>
              <a:t>$6,240,000 Top Line Revenue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514600"/>
          <a:ext cx="1106423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8544"/>
                <a:gridCol w="1327708"/>
                <a:gridCol w="1327708"/>
                <a:gridCol w="1770278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Revenue Stream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Done-With-You Coaching (live weekly coaching + full program access)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$7,500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$3,150,000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DIY On-Demand Program (self-paced)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2,400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$997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$2,392,800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Low-Ticket Starter Kit + order bumps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7,000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$67 avg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$469,000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Affiliate / partner revenue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$228,200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Revenue model is anchored by the high-ticket DWY tier; DIY and low-ticket fund cold-traffic acquisition and feed ascension. Quarterly pacing: $1.56M/quarter, $120K/week blended.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Lean Canvas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1828800"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USP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Unfair Advantage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Customer Segments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</a:tr>
              <a:tr h="1828800"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2B333C"/>
                          </a:solidFill>
                        </a:defRPr>
                      </a:pPr>
                      <a:r>
                        <a:t>Traditional rentals don't cash flow at today's rates and prices.</a:t>
                      </a:r>
                      <a:br/>
                      <a:r>
                        <a:t>Landlords can't make existing properties perform.</a:t>
                      </a:r>
                      <a:br/>
                      <a:r>
                        <a:t>Room-rental operators drown in zoning, setup, and tenant management.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2B333C"/>
                          </a:solidFill>
                        </a:defRPr>
                      </a:pPr>
                      <a:r>
                        <a:t>Coaching platform that teaches investors to convert ordinary houses into compliant coliving properties cash flowing 2–4x a normal rental.</a:t>
                      </a:r>
                      <a:br/>
                      <a:r>
                        <a:t>Key metrics: new students; DIY→DWY ascension; first room rented in 90 days; CAC.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2B333C"/>
                          </a:solidFill>
                        </a:defRPr>
                      </a:pPr>
                      <a:r>
                        <a:t>Turn one ordinary house into 2–4x the rent — without buying more property.</a:t>
                      </a:r>
                      <a:br/>
                      <a:r>
                        <a:t>High-level concept: the operating system for coliving investing.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2B333C"/>
                          </a:solidFill>
                        </a:defRPr>
                      </a:pPr>
                      <a:r>
                        <a:t>Founder operates a real coliving portfolio with verifiable numbers.</a:t>
                      </a:r>
                      <a:br/>
                      <a:r>
                        <a:t>Platform and proptech partnerships.</a:t>
                      </a:r>
                      <a:br/>
                      <a:r>
                        <a:t>Community of operating hosts, not just students.</a:t>
                      </a:r>
                      <a:br/>
                      <a:r>
                        <a:t>Channels: YouTube, Meta, Google, podcasts, Skool, email.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>
                          <a:solidFill>
                            <a:srgbClr val="2B333C"/>
                          </a:solidFill>
                        </a:defRPr>
                      </a:pPr>
                      <a:r>
                        <a:t>Landlords whose rentals stopped cash flowing.</a:t>
                      </a:r>
                      <a:br/>
                      <a:r>
                        <a:t>W-2 professionals seeking yield from 1–2 properties.</a:t>
                      </a:r>
                      <a:br/>
                      <a:r>
                        <a:t>House hackers ready to systematize.</a:t>
                      </a:r>
                      <a:br/>
                      <a:r>
                        <a:t>Mission-driven investors (workforce housing).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Cost structure: SaaS stack, coaching payroll, media spend, affiliate commissions, legal review.   |   Revenue streams: DWY enrollments, DIY tuition, low-ticket products, affiliate commissions.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0A458"/>
                </a:solidFill>
              </a:defRPr>
            </a:pPr>
            <a:r>
              <a:t>MESSAGE AND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Unique Selling Proposition (USP)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Coliving Cashflow Academy USP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0A458"/>
                </a:solidFill>
              </a:defRPr>
            </a:pPr>
            <a:r>
              <a:t>“Don’t buy more doors. Unlock the doors you already have.”</a:t>
            </a:r>
          </a:p>
          <a:p>
            <a:br/>
            <a:pPr algn="ctr">
              <a:defRPr sz="2000">
                <a:solidFill>
                  <a:srgbClr val="2B333C"/>
                </a:solidFill>
              </a:defRPr>
            </a:pPr>
            <a:r>
              <a:t>Coliving Cashflow Academy helps everyday investors turn one house into 2–4x the cash flow through compliant, professionally run room-by-room rentals — with coaching at the level of help you actually need.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304A"/>
                </a:solidFill>
              </a:defRPr>
            </a:pPr>
            <a:r>
              <a:t>Positioning rule: all earnings language is framed as rent mechanics (market rent per room vs. whole-unit rent) — never personal income promises.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0A458"/>
                </a:solidFill>
              </a:defRPr>
            </a:pPr>
            <a:r>
              <a:t>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Audience and Avatar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AUDIENCE AND AVATAR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Student Avatar: “Cashflow Chris”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B333C"/>
                </a:solidFill>
              </a:defRPr>
            </a:pPr>
            <a:r>
              <a:t>•  30–50 years old, ~55% male / 45% female, college educated, household income $85–150K.</a:t>
            </a:r>
          </a:p>
          <a:p>
            <a:pPr>
              <a:spcAft>
                <a:spcPts val="700"/>
              </a:spcAft>
              <a:defRPr sz="1700" b="0">
                <a:solidFill>
                  <a:srgbClr val="2B333C"/>
                </a:solidFill>
              </a:defRPr>
            </a:pPr>
            <a:r>
              <a:t>•  Owns a primary home; roughly half already own one rental that underperforms.</a:t>
            </a:r>
          </a:p>
          <a:p>
            <a:pPr>
              <a:spcAft>
                <a:spcPts val="700"/>
              </a:spcAft>
              <a:defRPr sz="1700" b="0">
                <a:solidFill>
                  <a:srgbClr val="2B333C"/>
                </a:solidFill>
              </a:defRPr>
            </a:pPr>
            <a:r>
              <a:t>•  Lives in growth metros with strong room-rental demand: Atlanta, Houston, Dallas, Phoenix, Charlotte, Tampa, Indianapolis.</a:t>
            </a:r>
          </a:p>
          <a:p>
            <a:pPr>
              <a:spcAft>
                <a:spcPts val="700"/>
              </a:spcAft>
              <a:defRPr sz="1700" b="0">
                <a:solidFill>
                  <a:srgbClr val="2B333C"/>
                </a:solidFill>
              </a:defRPr>
            </a:pPr>
            <a:r>
              <a:t>•  Analytical and skeptical: wants spreadsheets, walkthroughs, and legal clarity — not hype.</a:t>
            </a:r>
          </a:p>
          <a:p>
            <a:pPr>
              <a:spcAft>
                <a:spcPts val="700"/>
              </a:spcAft>
              <a:defRPr sz="1700" b="0">
                <a:solidFill>
                  <a:srgbClr val="2B333C"/>
                </a:solidFill>
              </a:defRPr>
            </a:pPr>
            <a:r>
              <a:t>•  Time-constrained professional (tech, healthcare, skilled trades, ex-military); often researching with a spouse or partner as co-decision-maker.</a:t>
            </a:r>
          </a:p>
          <a:p>
            <a:pPr>
              <a:spcAft>
                <a:spcPts val="700"/>
              </a:spcAft>
              <a:defRPr sz="1700" b="0">
                <a:solidFill>
                  <a:srgbClr val="2B333C"/>
                </a:solidFill>
              </a:defRPr>
            </a:pPr>
            <a:r>
              <a:t>•  Motivated by cash flow that survives high interest rates, and by the affordable-housing impact of providing clean rooms at attainable rents.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AUDIENCE AND AVATAR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Symbols, Virtues, Vices and Heroes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Symbols: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B333C"/>
                </a:solidFill>
              </a:defRPr>
            </a:pPr>
            <a:r>
              <a:t>–  Rent-roll screenshots, before/after room makeovers, paid-off HELOC, family vacations funded by cash flow, tidy operating dashboards.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Virtues: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B333C"/>
                </a:solidFill>
              </a:defRPr>
            </a:pPr>
            <a:r>
              <a:t>–  Numeracy, patience, compliance, systems-building, family security, providing quality housing, financial independence over flash.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Vices (what they avoid):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B333C"/>
                </a:solidFill>
              </a:defRPr>
            </a:pPr>
            <a:r>
              <a:t>–  Get-rich-quick hype, over-leverage, guru worship, analysis paralysis, quitting after one bad tenant experience.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Heroes: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B333C"/>
                </a:solidFill>
              </a:defRPr>
            </a:pPr>
            <a:r>
              <a:t>–  Operators who show real numbers: BiggerPockets-style educators, Coach Carson–type frugal investors, local landlords with paid-off portfolios, founders solving housing affordability.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AUDIENCE AND AVATAR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Goals and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Replace 50–100% of W-2 income with durable rental cash flow.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Make the properties they already own actually perform.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Launch a first coliving conversion within 90 days.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Build a repeatable system — not a second job.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Join a community of real operators to learn alongside.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Numbers over hype; proof over promises.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Compliance and doing it right (zoning, leases, insurance).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Time freedom and family security.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Housing impact: quality rooms at attainable rents.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Continuous learning and self-investment.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AUDIENCE AND AVATAR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Demographics, Affinity Interests and Top 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Age and Gender: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B333C"/>
                </a:solidFill>
              </a:defRPr>
            </a:pPr>
            <a:r>
              <a:t>–  Core 30–50 (≈70% of audience); ~55% male / 45% female.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Affinity Audiences: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B333C"/>
                </a:solidFill>
              </a:defRPr>
            </a:pPr>
            <a:r>
              <a:t>–  Real estate investing, personal finance / FIRE, landlord &amp; property management tools, home improvement / DIY, small-business owners.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Top Acquisition Metros: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B333C"/>
                </a:solidFill>
              </a:defRPr>
            </a:pPr>
            <a:r>
              <a:t>–  1. Atlanta   2. Houston/Dallas   3. Phoenix   4. Charlotte   5. Tampa   6. Indianapolis</a:t>
            </a:r>
          </a:p>
          <a:p>
            <a:pPr lvl="1">
              <a:spcAft>
                <a:spcPts val="700"/>
              </a:spcAft>
              <a:defRPr sz="1400" b="0">
                <a:solidFill>
                  <a:srgbClr val="2B333C"/>
                </a:solidFill>
              </a:defRPr>
            </a:pPr>
            <a:r>
              <a:t>–  Selection criteria: room-rental demand, landlord-friendly rules, price-to-rent ratios, and clear (or navigable) occupancy ordinances.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AUDIENCE AND AVATAR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How They Research and Browse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Devices &amp;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~60% mobile / 40% desktop; long-form research happens on desktop in the evening.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Watches YouTube at 1.5–2x speed; saves videos to playlists before buying.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Reads reviews and searches “[program name] + scam / review” before any purchase.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Asks AI assistants (ChatGPT, Gemini, Claude) to analyze deals and compare programs.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Implications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Long-form YouTube is the trust engine; shorts are discovery only.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Own the review/comparison search results with honest content.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Publish structured, citable data so AI assistants reference us (GEO).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Mobile-first funnel pages; desktop-grade webinar experience.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AUDIENCE AND AVATAR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Sources of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YouTube: BiggerPockets, rent-by-the-room operator channels, Coach Carson–style educators, house-hacking creators.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Podcasts: BiggerPockets Real Estate, Real Estate Rookie, regional REI shows, personal-finance/FIRE pods.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Communities: Skool and Discord investing groups, BiggerPockets forums, r/realestateinvesting, local REIA meetups.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Platforms &amp; tools: Room-rental marketplaces, mid-term rental platforms, landlord software blogs.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AI assistants: Deal analysis, market questions, “is rent-by-the-room legal in my city?”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Newsletters: REI and personal-finance newsletters; data-driven market reports.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AUDIENCE AND AVATAR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Challenges and 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“My rental barely breaks even” — current portfolio underperforms at today's rates.</a:t>
            </a:r>
          </a:p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Zoning and occupancy fear: “Is renting by the room even legal in my city?”</a:t>
            </a:r>
          </a:p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Tenant-conflict fear: “I don't want to referee roommates.”</a:t>
            </a:r>
          </a:p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Setup uncertainty: furnishing costs, conversion scope, what to budget.</a:t>
            </a:r>
          </a:p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Financing and insurance confusion for room-by-room operation.</a:t>
            </a:r>
          </a:p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Analysis paralysis from contradictory free content.</a:t>
            </a:r>
          </a:p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Time scarcity: needs systems and management playbooks, not more theory.</a:t>
            </a:r>
          </a:p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Discouragement risk: expects results in 90 days or starts doubting the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AUDIENCE AND AVATAR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Roles and Objections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Sole decision-maker up to ~$1,000 (Starter Kit, DIY tier).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Spousal/partner sign-off expected at the $7,500 DWY tier.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Sales assets include a “partner brief” PDF: the numbers, the time commitment, and the risk controls — built for the kitchen-table conversation.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Objections (each gets a dedicated funnel asset)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“How is this different from free YouTube house-hacking content?”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“Is this legal in my market?” → city compliance database.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“Will my insurance and lender allow it?” → vendor rolodex + guides.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“I don't have time to manage rooms.” → management systems module.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“Why is there no income guarantee?” → compliant proof + refund terms.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0A458"/>
                </a:solidFill>
              </a:defRPr>
            </a:pPr>
            <a:r>
              <a:t>OFFER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Product Features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FEATURES AND BENEFITS  |  FREE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Lead Magnet: Coliving Cashflow Calculator + 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Free room-rent calculator: enter an address, get projected per-room vs. whole-unit rent.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Companion eBook: “The 2–4x Rent Math” with embedded videos.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City-by-city legality checklist (top 25 metros).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5-day email mini-course onboarding.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Know in one weekend whether coliving works for your address and market.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Free value up front; builds trust before any pitch.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GOAL: capture leads, then ascend to Starter Kit and DIY program.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FEATURES AND BENEFITS  |  $47–$97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Coliving Starter Kit (Low Ticket)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10-video mini-course: the coliving model end to end.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Room-Rent Comp Calculator (full version).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Furnishing budget worksheet + house-rules starter template.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Order bumps: lease addenda pack, screening checklist.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Lifetime access.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Validate the model on your own property before investing further.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Self-liquidating front-end: funds cold-traffic acquisition.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Qualifies buyers for ascension into the DIY program.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FEATURES AND BENEFITS  |  $997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DIY On-Demand: “Coliving Operating System”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8-week self-paced curriculum, 70+ step-by-step videos.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Modules: deal analysis, zoning &amp; occupancy compliance, conversion &amp; furnishing playbook, room pricing, tenant screening &amp; house rules, management systems.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Downloadable lease addenda, house-rules templates, budget sheets.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Community access + monthly recorded Q&amp;A.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Lifetime access including content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Everything needed to launch a first coliving property on your own timeline.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Templates remove legal guesswork and setup paralysis.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Community provides real operator answers between launches.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Natural upgrade path to DWY when hands-on help is wanted.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FEATURES AND BENEFITS  |  $7,500 •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Done-With-You: “Coliving Accelerator”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Everything in the DIY program, plus: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Live weekly group coaching — separate acquisitions call and operations call.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Deal-review desk: submit a property, receive a recorded analysis within 48 hours.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1:1 onboarding session and a personalized 90-day launch plan.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City-specific compliance review checklist.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Vendor, lender, and insurance rolodex.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Private DWY-only community 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Your first conversion is reviewed at every step by people operating coliving properties today.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Speed and de-risking — not just information.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Accountability cadence keeps the 90-day launch on track.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Spouse-ready ROI story: one converted property can return the tuition in year-one incremental rent (results vary by market and execution).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FEATURES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Offer Ladder and Ascension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3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9690"/>
                <a:gridCol w="1096456"/>
                <a:gridCol w="4385824"/>
                <a:gridCol w="2392268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 in the Business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Ascends To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Lead Magnet (calculator + eBook)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Free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Capture demand; demonstrate the math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Starter Kit / DIY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Coliving Starter Kit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$47–$97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Self-liquidate ad spend; qualify buyers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DIY program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DIY Coliving Operating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$997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Core volume product; community growth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DWY Accelerator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DWY Coliving Accelerator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$7,500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Profit anchor; success stories engine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Alumni mastermind (2027)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262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304A"/>
                </a:solidFill>
              </a:defRPr>
            </a:pPr>
            <a:r>
              <a:t>Upsell driver is level of help, not more content. Target DIY→DWY ascension: 8% in-year.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0A458"/>
                </a:solidFill>
              </a:defRPr>
            </a:pPr>
            <a:r>
              <a:t>BRAND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Branding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BRANDING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Brand Pillars and Visual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Brand Pillars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Calm: no hype, no urgency theatrics, no rented exotics.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Numerate: every claim ships with a spreadsheet or walkthrough.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Operator-credible: founder's real portfolio on camera, numbers shown.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Impact-aware: coliving as a workforce-housing solution.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Visual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Warm residential photography: real rooms, real common spaces.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Data-visualization accents: rent comparisons, dashboards.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Palette: deep navy + warm sand; clean editorial type.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Consistency system across site, course portal, ads, and social.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0A458"/>
                </a:solidFill>
              </a:defRPr>
            </a:pPr>
            <a:r>
              <a:t>CHANNELS, AFFILIATES, LEAD GEN AND FUNNELS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Customer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CUSTOMER ACQUISITION  |  MEDIA BUYING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Paid Channel Allocation and ROAS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3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9063"/>
                <a:gridCol w="1370790"/>
                <a:gridCol w="4895681"/>
                <a:gridCol w="1468704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Budget Share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Primary Job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ROAS Goal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YouTube + Google 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High-intent demand capture; long-form trust for DWY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3.0x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Meta (Facebook / Instagram)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Lead magnet + Starter Kit volume; retargeting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2.3x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Podcast &amp; newsletter sponsorships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Borrowed trust with REI audiences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3.3x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TikTok (experimental)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Discovery test; must clear 1.5x gate to scale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1.5x gate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976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304A"/>
                </a:solidFill>
              </a:defRPr>
            </a:pPr>
            <a:r>
              <a:t>Budget rebalances quarterly toward the best blended-CAC channel; no channel exceeds 50%.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CUSTOMER ACQUISITION  |  MEDIA BUYING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Paid Channel Performance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37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8907"/>
                <a:gridCol w="2505110"/>
                <a:gridCol w="2505110"/>
                <a:gridCol w="250511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YouTube/Google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Meta FB/IG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Sponsorships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Cost per lead (magnet)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$12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$9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$15 effective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Cost per booked DWY call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$450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$550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$400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Application → call show 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Call → close rate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27%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32%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Blended cost per new customer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$2,600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$3,000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$2,400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Average order value (anchor)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$7,500 DWY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$997 DIY-led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$7,500 DWY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949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304A"/>
                </a:solidFill>
              </a:defRPr>
            </a:pPr>
            <a:r>
              <a:t>UTM-to-CRM attribution on every lead: source → campaign → ad set → creative, joined to closed revenue for true ROAS by creative.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CUSTOMER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Organic Channel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YouTube channel (flagship): weekly property-walkthrough and deal-breakdown videos with real numbers; shorts cut from every long-form.</a:t>
            </a:r>
          </a:p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Free Skool community: nurture engine; weekly free live class; soft path to DIY and DWY.</a:t>
            </a:r>
          </a:p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SEO + GEO: programmatic city pages (“Is rent-by-the-room legal in {city}?”) structured for AI-assistant citation; calculator as the click-through hook.</a:t>
            </a:r>
          </a:p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Instagram / Facebook: student proof, behind-the-scenes operations, retargeting fodder.</a:t>
            </a:r>
          </a:p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Founder podcast guesting: target 40 shows in 2026.</a:t>
            </a:r>
          </a:p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Email newsletter: weekly rent-per-room data insight + one student story.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CUSTOMER ACQUISITION  |  AFFILIATES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Affiliate Overview — The “Army”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Rather than relying on a few large affiliates to drive hundreds of sales, we recruit a wide army of smaller partners each expected to drive a handful of sales.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Example math: 100 affiliates × 3 DIY sales × $997 ≈ $300K, plus DWY referrals at a $500 flat bounty per enrollment.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Two partner categories: businesses (proptech, services) and individuals (creators, community leaders, successful students).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Rock-star affiliates get launch-week incentives and co-created content; the long tail gets swipe files, tracking links, and a monthly affiliate newsletter.</a:t>
            </a:r>
          </a:p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Every affiliate signs an earnings-claims compliance addendum and uses pre-approved claims language.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CUSTOMER ACQUISITION  |  AFFILIATES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Affiliate Revenue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304A"/>
                </a:solidFill>
              </a:defRPr>
            </a:pPr>
            <a:r>
              <a:t>2026 affiliate revenue goal: $228,200 (≈5% of program revenue)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48840"/>
          <a:ext cx="1106423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933"/>
                <a:gridCol w="2253826"/>
                <a:gridCol w="2253826"/>
                <a:gridCol w="2253826"/>
                <a:gridCol w="2253826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Quarterly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$57,050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$57,050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$57,050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$57,050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Monthly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$19,017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$19,017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$19,017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$19,017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Weekly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$4,389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$4,389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$4,389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0">
                          <a:solidFill>
                            <a:srgbClr val="2B333C"/>
                          </a:solidFill>
                        </a:defRPr>
                      </a:pPr>
                      <a:r>
                        <a:t>$4,389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43484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B333C"/>
                </a:solidFill>
              </a:defRPr>
            </a:pPr>
            <a:r>
              <a:t>•  Split: internal partner commissions ~35% • external affiliate-driven sales ~35% • cross-promotions ~30%.</a:t>
            </a:r>
          </a:p>
          <a:p>
            <a:pPr>
              <a:spcAft>
                <a:spcPts val="700"/>
              </a:spcAft>
              <a:defRPr sz="1400" b="0">
                <a:solidFill>
                  <a:srgbClr val="2B333C"/>
                </a:solidFill>
              </a:defRPr>
            </a:pPr>
            <a:r>
              <a:t>•  Quarterly promo calendar: one external affiliate push per month (Starter Kit), internal tool promos ongoing, one cross-promo partner per quarter.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CUSTOMER ACQUISITION  |  AFFILIATES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Affiliate Partners and Commissions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External (they promote 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REI YouTubers &amp; newsletter writers (Tier 1): 40% on DIY; $500 flat per DWY enrollment.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Community promoters &amp; successful students (Tier 2): 25% on DIY.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Tier upgrades earned by volume and content quality.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Internal (tools we teach with, paying 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Room-rental platform host referrals.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Property management / room-management software.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Furnishing and turnkey setup partners.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Landlord insurance brokers; tenant-screening services.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Banking, bookkeeping, and entity-setup services.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CUSTOMER ACQUISITION  |  LEAD 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Funnel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3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273"/>
                <a:gridCol w="2232258"/>
                <a:gridCol w="5435065"/>
                <a:gridCol w="2911642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Funnel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Key Conversion Targets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DWY Application Funnel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YouTube/podcast → free training → application → call → enroll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25% application→call • 30% call→close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DIY Funnel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Lead magnet → 5-day email mini-course → $997 offer (+ payment plan downsell)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3.5% lead→sale in 30 days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Starter Kit Funnel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Cold Meta traffic → $47–$97 offer + order bumps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Self-liquidating (≥1.0x day-30)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Community Funnel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Free Skool tier → weekly live class → DIY/DWY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4% member→customer/quarter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Organic Site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City legality pages + calculator → email capture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12% visitor→lead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PR &amp;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PR Goal &amp; Content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PR Objective: own “coliving investing” as a category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KR1: 40 podcast/YouTube collaborations in 2026.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KR2: YouTube to 100K subscribers; 1M long-form watch-hours.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KR3: 2 mainstream press placements on the workforce-housing angle.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Monthly: rent-per-room index by metro — a citable data report for press and AI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08760"/>
            <a:ext cx="5394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0A458"/>
                </a:solidFill>
              </a:defRPr>
            </a:pPr>
            <a:r>
              <a:t>Weekly Content Cadence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6596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1 long-form YouTube: deal breakdown or student property tour.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3 shorts/reels cut from the long-form.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1 newsletter: data insight + one student story.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1 free live class in the community.</a:t>
            </a:r>
          </a:p>
          <a:p>
            <a:pPr>
              <a:spcAft>
                <a:spcPts val="700"/>
              </a:spcAft>
              <a:defRPr sz="1500" b="0">
                <a:solidFill>
                  <a:srgbClr val="2B333C"/>
                </a:solidFill>
              </a:defRPr>
            </a:pPr>
            <a:r>
              <a:t>•  2 student-win posts with compliant framing (documented, “results vary”).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GET EXCITED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New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AI Deal-Analyzer Assistant: students upload a listing, receive a coliving pro-forma — retention feature and demo-able marketing hook.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Verified Student Results Registry: opt-in, documented before/after rent numbers; the compliant proof engine for all advertising.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City Compliance Database: the #1 objection becomes our owned, defensible asset.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Partner/Spouse Brief: kitchen-table PDF that closes the DWY second decision-maker.</a:t>
            </a:r>
          </a:p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Alumni Operator Mastermind ($15K tier): launches once 100+ DWY students operate properties — the 2027 revenue layer.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Operating Cadence and 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34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3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845"/>
                <a:gridCol w="7475837"/>
                <a:gridCol w="1993556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Cadence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Review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Daily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Ad spend vs. CAC guardrails; lead volume; call bookings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Media buyer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Weekly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Funnel conversion by stage; show rate; close rate; affiliate sales; content shipped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Marketing lead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Monthly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Blended CAC vs. LTV; DIY→DWY ascension; student success rate (first room rented in 90 days); churn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GM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Quarterly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Channel rebalance; pricing review; offer tests; OKR scoring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>
                          <a:solidFill>
                            <a:srgbClr val="2B333C"/>
                          </a:solidFill>
                        </a:defRPr>
                      </a:pPr>
                      <a:r>
                        <a:t>Founder + GM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5262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304A"/>
                </a:solidFill>
              </a:defRPr>
            </a:pPr>
            <a:r>
              <a:t>North-star metric: students with first room rented within 90 days. Student success drives referrals, proof, and ascension — it is the marketing engine.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Risk and Compliance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Earnings claims: all marketing uses rent-mechanics framing and documented student results with “results vary” disclosure; legal review of every funnel asset and ad batch.</a:t>
            </a:r>
          </a:p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Messaging: no cold SMS. Email + retargeting + community for nurture; any SMS is single-opt-in transactional (call reminders) on registered traffic.</a:t>
            </a:r>
          </a:p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Affiliates: signed compliance addendum; pre-approved claims library; spot audits quarterly.</a:t>
            </a:r>
          </a:p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Curriculum: zoning/occupancy taught as a first-class module; city database maintained by counsel-reviewed process.</a:t>
            </a:r>
          </a:p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Refund policy: clear, published terms — a trust asset, not fine print.</a:t>
            </a:r>
          </a:p>
          <a:p>
            <a:pPr>
              <a:spcAft>
                <a:spcPts val="700"/>
              </a:spcAft>
              <a:defRPr sz="1500" b="1">
                <a:solidFill>
                  <a:srgbClr val="14304A"/>
                </a:solidFill>
              </a:defRPr>
            </a:pPr>
            <a:r>
              <a:t>Platform risk: no channel over 50% of paid budget; owned email list and community are the moat.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Recap: Coliving Cashflow Academy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304A"/>
                </a:solidFill>
              </a:defRPr>
            </a:pPr>
            <a:r>
              <a:t>Goal: $6,240,000 top-line revenue, anchored by the $7,500 DWY Coliving Accelerator.</a:t>
            </a:r>
          </a:p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Offer ladder: free calculator → $47–$97 Starter Kit → $997 DIY program → $7,500 DWY coaching → 2027 alumni mastermind.</a:t>
            </a:r>
          </a:p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Acquisition: YouTube/Google-led (45%), Meta (35%), sponsorships (15%), TikTok test (5%); organic flywheel through YouTube, Skool community, and GEO city pages.</a:t>
            </a:r>
          </a:p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Affiliate army: many partners × few sales each; $228K goal with compliance built in.</a:t>
            </a:r>
          </a:p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Operations: weekly funnel reviews, quarterly channel rebalancing, student success (first room rented in 90 days) as the north-star metric.</a:t>
            </a:r>
          </a:p>
          <a:p>
            <a:pPr>
              <a:spcAft>
                <a:spcPts val="700"/>
              </a:spcAft>
              <a:defRPr sz="1600" b="0">
                <a:solidFill>
                  <a:srgbClr val="2B333C"/>
                </a:solidFill>
              </a:defRPr>
            </a:pPr>
            <a:r>
              <a:t>•  Brand: calm, numerate, operator-credible — proof over promises.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0A458"/>
                </a:solidFill>
              </a:defRPr>
            </a:pPr>
            <a:r>
              <a:t>ADDENDUM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Supercharger Strategies &amp; Achievable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ADDENDUM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Supercharger Strategies (1–3)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304A"/>
                </a:solidFill>
              </a:defRPr>
            </a:pPr>
            <a:r>
              <a:t>1. Joint-Venture Launch Circuit — projected +$1.2M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2B333C"/>
                </a:solidFill>
              </a:defRPr>
            </a:pPr>
            <a:r>
              <a:t>–  Four launch windows per year, each with 3 aligned partners (REI educators, proptech platforms, large newsletters) running co-hosted webinars to their lists. 12 JV webinars × ~400 attendees × 4% DWY application rate at standard close rates.</a:t>
            </a:r>
          </a:p>
          <a:p>
            <a:pPr>
              <a:spcAft>
                <a:spcPts val="700"/>
              </a:spcAft>
              <a:defRPr sz="1400" b="1">
                <a:solidFill>
                  <a:srgbClr val="14304A"/>
                </a:solidFill>
              </a:defRPr>
            </a:pPr>
            <a:r>
              <a:t>2. Quarterly “Coliving Launch Weekend” virtual event — projected +$900K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2B333C"/>
                </a:solidFill>
              </a:defRPr>
            </a:pPr>
            <a:r>
              <a:t>–  $97 ticket, 2-day implementation event (analyze a real deal live, build your 90-day plan). 1,500 attendees/quarter; ticket revenue covers production; 3% DWY conversion + DIY bundle upsell.</a:t>
            </a:r>
          </a:p>
          <a:p>
            <a:pPr>
              <a:spcAft>
                <a:spcPts val="700"/>
              </a:spcAft>
              <a:defRPr sz="1400" b="1">
                <a:solidFill>
                  <a:srgbClr val="14304A"/>
                </a:solidFill>
              </a:defRPr>
            </a:pPr>
            <a:r>
              <a:t>3. Founder YouTube Flywheel at 2x cadence — projected +$700K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2B333C"/>
                </a:solidFill>
              </a:defRPr>
            </a:pPr>
            <a:r>
              <a:t>–  Two long-forms weekly plus a monthly “portfolio P&amp;L on camera” series. Organic DWY applications compound: channel-attributed enrollments at near-zero CAC improve blended ROAS and fund more paid scale.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ADDENDUM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Supercharger Strategies (4–6)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304A"/>
                </a:solidFill>
              </a:defRPr>
            </a:pPr>
            <a:r>
              <a:t>4. Student Referral Engine — projected +$350K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2B333C"/>
                </a:solidFill>
              </a:defRPr>
            </a:pPr>
            <a:r>
              <a:t>–  $500 credit or cash per referred DWY enrollment; automated ask at each student milestone (first room rented, first property converted). Success-based, near-zero CAC.</a:t>
            </a:r>
          </a:p>
          <a:p>
            <a:pPr>
              <a:spcAft>
                <a:spcPts val="700"/>
              </a:spcAft>
              <a:defRPr sz="1400" b="1">
                <a:solidFill>
                  <a:srgbClr val="14304A"/>
                </a:solidFill>
              </a:defRPr>
            </a:pPr>
            <a:r>
              <a:t>5. GEO City-Page Moat at scale — projected +$300K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2B333C"/>
                </a:solidFill>
              </a:defRPr>
            </a:pPr>
            <a:r>
              <a:t>–  Expand from 25 to 150 city legality pages with structured data and monthly rent-per-room index. Becomes the cited source in AI answers and search for “is rent-by-the-room legal in {city}” — durable, compounding lead flow.</a:t>
            </a:r>
          </a:p>
          <a:p>
            <a:pPr>
              <a:spcAft>
                <a:spcPts val="700"/>
              </a:spcAft>
              <a:defRPr sz="1400" b="1">
                <a:solidFill>
                  <a:srgbClr val="14304A"/>
                </a:solidFill>
              </a:defRPr>
            </a:pPr>
            <a:r>
              <a:t>6. Book + Self-Liquidating Offer + Paid Newsletter — projected +$250K</a:t>
            </a:r>
          </a:p>
          <a:p>
            <a:pPr lvl="1">
              <a:spcAft>
                <a:spcPts val="700"/>
              </a:spcAft>
              <a:defRPr sz="1200" b="0">
                <a:solidFill>
                  <a:srgbClr val="2B333C"/>
                </a:solidFill>
              </a:defRPr>
            </a:pPr>
            <a:r>
              <a:t>–  $9.97 book funnel (“The Coliving Cashflow Method”) feeding the ascension ladder, plus a $15/mo premium data newsletter (metro rent-per-room reports) that monetizes non-buyers and warms future DWY students.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0A458"/>
                </a:solidFill>
              </a:defRPr>
            </a:pPr>
            <a:r>
              <a:t>ADDENDUM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4A"/>
                </a:solidFill>
              </a:defRPr>
            </a:pPr>
            <a:r>
              <a:t>Achievable Results: Base vs. Supercharged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6E"/>
                </a:solidFill>
              </a:defRPr>
            </a:pPr>
            <a:r>
              <a:t>2026 Coliving Cashflow Academy | Marketing &amp; Operating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646E"/>
                </a:solidFill>
              </a:defRPr>
            </a:pPr>
            <a:r>
              <a:t>40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  <a:gridCol w="1463040"/>
                <a:gridCol w="1463040"/>
                <a:gridCol w="1645920"/>
                <a:gridCol w="237744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DWY Students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DIY Students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Blended CAC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Assumption Level</a:t>
                      </a:r>
                    </a:p>
                  </a:txBody>
                  <a:tcPr anchor="ctr">
                    <a:solidFill>
                      <a:srgbClr val="14304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Base plan (this deck)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$6.24M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2,400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$2,400–3,000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Targets hit at stated rates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Base + Superchargers (conservative)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$8.5M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~620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~3,200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improves ~15%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4 of 6 levers at 70% of projection</a:t>
                      </a:r>
                    </a:p>
                  </a:txBody>
                  <a:tcPr anchor="ctr">
                    <a:solidFill>
                      <a:srgbClr val="F4F1E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Base + Superchargers (full execution)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$9.9M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~760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~3,800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improves ~25%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50" b="0">
                          <a:solidFill>
                            <a:srgbClr val="2B333C"/>
                          </a:solidFill>
                        </a:defRPr>
                      </a:pPr>
                      <a:r>
                        <a:t>All 6 levers at projection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977639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 b="1">
                <a:solidFill>
                  <a:srgbClr val="14304A"/>
                </a:solidFill>
              </a:defRPr>
            </a:pPr>
            <a:r>
              <a:t>Why the levers compound: JV launches and the event create demand spikes; the referral engine and YouTube flywheel lower blended CAC; lower CAC funds more paid spend at the same ROAS guardrails.</a:t>
            </a:r>
          </a:p>
          <a:p>
            <a:pPr>
              <a:spcAft>
                <a:spcPts val="700"/>
              </a:spcAft>
              <a:defRPr sz="1250" b="1">
                <a:solidFill>
                  <a:srgbClr val="14304A"/>
                </a:solidFill>
              </a:defRPr>
            </a:pPr>
            <a:r>
              <a:t>Conditions: results assume the stated conversion rates, a staffed coaching and sales team, and 12 months of consistent execution. These are projections, not guarantees — actual results depend on execution, market conditions, and compliance with all advertising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